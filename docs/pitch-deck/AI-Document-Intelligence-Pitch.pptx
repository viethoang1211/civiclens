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811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3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9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AI-Assisted Document Intelligence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Manual Document Processing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Intelligent, Secure Workflows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3716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Innovation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4206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43891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1371600"/>
            <a:ext cx="502920" cy="502920"/>
          </a:xfrm>
          <a:prstGeom prst="ellipse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1560" y="1463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Delays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45920" y="1600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classification, routing,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review across 5-7 days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2377440"/>
            <a:ext cx="43891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" y="237744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60120" y="2606040"/>
            <a:ext cx="502920" cy="502920"/>
          </a:xfrm>
          <a:prstGeom prst="ellipse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51560" y="26974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4592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Flow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645920" y="2834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visibility, duplicated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across departments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611880"/>
            <a:ext cx="43891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611880"/>
            <a:ext cx="54864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960120" y="3840480"/>
            <a:ext cx="502920" cy="502920"/>
          </a:xfrm>
          <a:prstGeom prst="ellipse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" y="393192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Constraints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645920" y="4069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classification levels require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access control + audit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394960" y="1143000"/>
            <a:ext cx="32918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394960" y="1143000"/>
            <a:ext cx="3291840" cy="5486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623560" y="1371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Impact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76072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5-7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694944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76072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processing time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760720" y="2468880"/>
            <a:ext cx="25603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576072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High %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576072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processing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5760720" y="3154680"/>
            <a:ext cx="25603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5760720" y="3246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Many+</a:t>
            </a:r>
            <a:endParaRPr lang="en-US" sz="2200" dirty="0"/>
          </a:p>
        </p:txBody>
      </p:sp>
      <p:sp>
        <p:nvSpPr>
          <p:cNvPr id="33" name="Text 28"/>
          <p:cNvSpPr/>
          <p:nvPr/>
        </p:nvSpPr>
        <p:spPr>
          <a:xfrm>
            <a:off x="576072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involved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760720" y="3840480"/>
            <a:ext cx="25603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5760720" y="3931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1"/>
          <p:cNvSpPr/>
          <p:nvPr/>
        </p:nvSpPr>
        <p:spPr>
          <a:xfrm>
            <a:off x="69494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576072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classification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Solution: End-to-End AI Platform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56032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54480" y="1417320"/>
            <a:ext cx="640080" cy="640080"/>
          </a:xfrm>
          <a:prstGeom prst="ellipse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45920" y="15087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Classification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Summarization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74720" y="114300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474720" y="114300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89120" y="1417320"/>
            <a:ext cx="640080" cy="640080"/>
          </a:xfrm>
          <a:prstGeom prst="ellipse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80560" y="15087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1188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Engine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1188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Auto-routing + Multi-dept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approval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309360" y="114300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309360" y="1143000"/>
            <a:ext cx="2560320" cy="54864"/>
          </a:xfrm>
          <a:prstGeom prst="rect">
            <a:avLst/>
          </a:prstGeom>
          <a:solidFill>
            <a:srgbClr val="2B4C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7223760" y="1417320"/>
            <a:ext cx="640080" cy="640080"/>
          </a:xfrm>
          <a:prstGeom prst="ellipse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315200" y="150876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4652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Portal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46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tracking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Notifications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" y="3246120"/>
            <a:ext cx="78638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40080" y="3246120"/>
            <a:ext cx="786384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822960" y="3310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Workflow — 6 Steps</a:t>
            </a:r>
            <a:endParaRPr lang="en-US" sz="11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396652" y="3310128"/>
            <a:ext cx="6486945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 Future-State Capabilities — Delivered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45720" cy="14173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188720"/>
            <a:ext cx="292608" cy="29260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48840" y="116128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5270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Ingestion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9808" y="18013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scan on any phone.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OCR in 10-30 seconds.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2697480" y="10515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697480" y="1051560"/>
            <a:ext cx="45720" cy="14173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834640" y="1188720"/>
            <a:ext cx="292608" cy="292608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06240" y="1161288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807208" y="15270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Classification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2807208" y="18013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AI (text + vision).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document types, 85-95%.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4754880" y="10515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754880" y="1051560"/>
            <a:ext cx="45720" cy="1417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2040" y="1188720"/>
            <a:ext cx="292608" cy="29260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63640" y="1161288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64608" y="15270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Auto-Routing</a:t>
            </a:r>
            <a:endParaRPr lang="en-US" sz="1100" dirty="0"/>
          </a:p>
        </p:txBody>
      </p:sp>
      <p:sp>
        <p:nvSpPr>
          <p:cNvPr id="21" name="Text 13"/>
          <p:cNvSpPr/>
          <p:nvPr/>
        </p:nvSpPr>
        <p:spPr>
          <a:xfrm>
            <a:off x="4864608" y="18013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per case type.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deadlines per step.</a:t>
            </a:r>
            <a:endParaRPr lang="en-US" sz="900" dirty="0"/>
          </a:p>
        </p:txBody>
      </p:sp>
      <p:sp>
        <p:nvSpPr>
          <p:cNvPr id="22" name="Shape 14"/>
          <p:cNvSpPr/>
          <p:nvPr/>
        </p:nvSpPr>
        <p:spPr>
          <a:xfrm>
            <a:off x="6812280" y="10515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5"/>
          <p:cNvSpPr/>
          <p:nvPr/>
        </p:nvSpPr>
        <p:spPr>
          <a:xfrm>
            <a:off x="6812280" y="1051560"/>
            <a:ext cx="45720" cy="1417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49440" y="1188720"/>
            <a:ext cx="292608" cy="292608"/>
          </a:xfrm>
          <a:prstGeom prst="rect">
            <a:avLst/>
          </a:prstGeom>
        </p:spPr>
      </p:pic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21040" y="1161288"/>
            <a:ext cx="201168" cy="20116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922008" y="15270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Summarization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6922008" y="18013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entity extraction.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dossier summary.</a:t>
            </a:r>
            <a:endParaRPr lang="en-US" sz="900" dirty="0"/>
          </a:p>
        </p:txBody>
      </p:sp>
      <p:sp>
        <p:nvSpPr>
          <p:cNvPr id="28" name="Shape 18"/>
          <p:cNvSpPr/>
          <p:nvPr/>
        </p:nvSpPr>
        <p:spPr>
          <a:xfrm>
            <a:off x="640080" y="26517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19"/>
          <p:cNvSpPr/>
          <p:nvPr/>
        </p:nvSpPr>
        <p:spPr>
          <a:xfrm>
            <a:off x="640080" y="2651760"/>
            <a:ext cx="45720" cy="1417320"/>
          </a:xfrm>
          <a:prstGeom prst="rect">
            <a:avLst/>
          </a:prstGeom>
          <a:solidFill>
            <a:srgbClr val="2B4C7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77240" y="2788920"/>
            <a:ext cx="292608" cy="292608"/>
          </a:xfrm>
          <a:prstGeom prst="rect">
            <a:avLst/>
          </a:prstGeom>
        </p:spPr>
      </p:pic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48840" y="2761488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749808" y="31272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Cross-Dept Collaboration</a:t>
            </a:r>
            <a:endParaRPr lang="en-US" sz="1100" dirty="0"/>
          </a:p>
        </p:txBody>
      </p:sp>
      <p:sp>
        <p:nvSpPr>
          <p:cNvPr id="33" name="Text 21"/>
          <p:cNvSpPr/>
          <p:nvPr/>
        </p:nvSpPr>
        <p:spPr>
          <a:xfrm>
            <a:off x="749808" y="34015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multi-dept review.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annotations.</a:t>
            </a:r>
            <a:endParaRPr lang="en-US" sz="900" dirty="0"/>
          </a:p>
        </p:txBody>
      </p:sp>
      <p:sp>
        <p:nvSpPr>
          <p:cNvPr id="34" name="Shape 22"/>
          <p:cNvSpPr/>
          <p:nvPr/>
        </p:nvSpPr>
        <p:spPr>
          <a:xfrm>
            <a:off x="2697480" y="26517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3"/>
          <p:cNvSpPr/>
          <p:nvPr/>
        </p:nvSpPr>
        <p:spPr>
          <a:xfrm>
            <a:off x="2697480" y="2651760"/>
            <a:ext cx="45720" cy="1417320"/>
          </a:xfrm>
          <a:prstGeom prst="rect">
            <a:avLst/>
          </a:prstGeom>
          <a:solidFill>
            <a:srgbClr val="2B4C7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34640" y="2788920"/>
            <a:ext cx="292608" cy="292608"/>
          </a:xfrm>
          <a:prstGeom prst="rect">
            <a:avLst/>
          </a:prstGeom>
        </p:spPr>
      </p:pic>
      <p:pic>
        <p:nvPicPr>
          <p:cNvPr id="37" name="Image 1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06240" y="2761488"/>
            <a:ext cx="201168" cy="201168"/>
          </a:xfrm>
          <a:prstGeom prst="rect">
            <a:avLst/>
          </a:prstGeom>
        </p:spPr>
      </p:pic>
      <p:sp>
        <p:nvSpPr>
          <p:cNvPr id="38" name="Text 24"/>
          <p:cNvSpPr/>
          <p:nvPr/>
        </p:nvSpPr>
        <p:spPr>
          <a:xfrm>
            <a:off x="2807208" y="31272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Tracking</a:t>
            </a:r>
            <a:endParaRPr lang="en-US" sz="1100" dirty="0"/>
          </a:p>
        </p:txBody>
      </p:sp>
      <p:sp>
        <p:nvSpPr>
          <p:cNvPr id="39" name="Text 25"/>
          <p:cNvSpPr/>
          <p:nvPr/>
        </p:nvSpPr>
        <p:spPr>
          <a:xfrm>
            <a:off x="2807208" y="34015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App timeline.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notifications.</a:t>
            </a:r>
            <a:endParaRPr lang="en-US" sz="900" dirty="0"/>
          </a:p>
        </p:txBody>
      </p:sp>
      <p:sp>
        <p:nvSpPr>
          <p:cNvPr id="40" name="Shape 26"/>
          <p:cNvSpPr/>
          <p:nvPr/>
        </p:nvSpPr>
        <p:spPr>
          <a:xfrm>
            <a:off x="4754880" y="26517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27"/>
          <p:cNvSpPr/>
          <p:nvPr/>
        </p:nvSpPr>
        <p:spPr>
          <a:xfrm>
            <a:off x="4754880" y="2651760"/>
            <a:ext cx="45720" cy="1417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92040" y="2788920"/>
            <a:ext cx="292608" cy="292608"/>
          </a:xfrm>
          <a:prstGeom prst="rect">
            <a:avLst/>
          </a:prstGeom>
        </p:spPr>
      </p:pic>
      <p:pic>
        <p:nvPicPr>
          <p:cNvPr id="43" name="Image 1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63640" y="2761488"/>
            <a:ext cx="201168" cy="201168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4864608" y="31272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Indexing</a:t>
            </a:r>
            <a:endParaRPr lang="en-US" sz="1100" dirty="0"/>
          </a:p>
        </p:txBody>
      </p:sp>
      <p:sp>
        <p:nvSpPr>
          <p:cNvPr id="45" name="Text 29"/>
          <p:cNvSpPr/>
          <p:nvPr/>
        </p:nvSpPr>
        <p:spPr>
          <a:xfrm>
            <a:off x="4864608" y="34015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search, Vietnamese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clearance-filtered.</a:t>
            </a:r>
            <a:endParaRPr lang="en-US" sz="900" dirty="0"/>
          </a:p>
        </p:txBody>
      </p:sp>
      <p:sp>
        <p:nvSpPr>
          <p:cNvPr id="46" name="Shape 30"/>
          <p:cNvSpPr/>
          <p:nvPr/>
        </p:nvSpPr>
        <p:spPr>
          <a:xfrm>
            <a:off x="6812280" y="2651760"/>
            <a:ext cx="1874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31"/>
          <p:cNvSpPr/>
          <p:nvPr/>
        </p:nvSpPr>
        <p:spPr>
          <a:xfrm>
            <a:off x="6812280" y="2651760"/>
            <a:ext cx="45720" cy="1417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8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49440" y="2788920"/>
            <a:ext cx="292608" cy="292608"/>
          </a:xfrm>
          <a:prstGeom prst="rect">
            <a:avLst/>
          </a:prstGeom>
        </p:spPr>
      </p:pic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21040" y="2761488"/>
            <a:ext cx="201168" cy="201168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6922008" y="3127248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100" dirty="0"/>
          </a:p>
        </p:txBody>
      </p:sp>
      <p:sp>
        <p:nvSpPr>
          <p:cNvPr id="51" name="Text 33"/>
          <p:cNvSpPr/>
          <p:nvPr/>
        </p:nvSpPr>
        <p:spPr>
          <a:xfrm>
            <a:off x="6922008" y="3401568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security levels, ABAC,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full audit trail.</a:t>
            </a:r>
            <a:endParaRPr lang="en-US" sz="900" dirty="0"/>
          </a:p>
        </p:txBody>
      </p:sp>
      <p:sp>
        <p:nvSpPr>
          <p:cNvPr id="52" name="Shape 34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35"/>
          <p:cNvSpPr/>
          <p:nvPr/>
        </p:nvSpPr>
        <p:spPr>
          <a:xfrm>
            <a:off x="822960" y="42519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capabilities are fully implemented and demo-ready on live AI models (Alibaba Cloud DashScope)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Challenges Solved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143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Identification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4356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OCR + ensemble classification with officer confirmation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1645920" cy="7315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1887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92040" y="13990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 per document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3796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858000" y="1188720"/>
            <a:ext cx="1508760" cy="73152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03720" y="118872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903720" y="1399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minute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33172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233172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Cross-Dept Consolidation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15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scan, one index — every department sees the same 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468880"/>
            <a:ext cx="1645920" cy="7315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4688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92040" y="26791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 reviews, paper memos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3796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858000" y="2468880"/>
            <a:ext cx="1508760" cy="73152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24688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903720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shared dossier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0080" y="3611880"/>
            <a:ext cx="54864" cy="1097280"/>
          </a:xfrm>
          <a:prstGeom prst="rect">
            <a:avLst/>
          </a:prstGeom>
          <a:solidFill>
            <a:srgbClr val="2B4C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144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Approval Cycles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39959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Auto-routing with deadlines; citizen tracks in real-time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749040"/>
            <a:ext cx="1645920" cy="7315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37490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9204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visibility, physical transfer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858000" y="3749040"/>
            <a:ext cx="1508760" cy="73152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03720" y="374904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903720" y="395935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routing + SLA tracking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It in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5029200" cy="3291840"/>
          </a:xfrm>
          <a:prstGeom prst="rect">
            <a:avLst/>
          </a:prstGeom>
          <a:solidFill>
            <a:srgbClr val="1B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697480" y="2286000"/>
            <a:ext cx="914400" cy="914400"/>
          </a:xfrm>
          <a:prstGeom prst="ellipse">
            <a:avLst/>
          </a:prstGeom>
          <a:solidFill>
            <a:srgbClr val="0891B2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80360" y="24688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3657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1-Minute Demo Video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Scan + Dossier Workflow + Citizen Tracking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035040" y="1097280"/>
            <a:ext cx="26517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035040" y="1097280"/>
            <a:ext cx="45720" cy="6858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263640" y="11704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10-30s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263640" y="1481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processing per document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1920240"/>
            <a:ext cx="26517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035040" y="1920240"/>
            <a:ext cx="45720" cy="6858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63640" y="19933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63640" y="23042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types supported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0" y="2743200"/>
            <a:ext cx="26517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035040" y="2743200"/>
            <a:ext cx="45720" cy="685800"/>
          </a:xfrm>
          <a:prstGeom prst="rect">
            <a:avLst/>
          </a:prstGeom>
          <a:solidFill>
            <a:srgbClr val="2B4C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263640" y="28163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4C7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85-95%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263640" y="31272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accuracy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0" y="3566160"/>
            <a:ext cx="26517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035040" y="3566160"/>
            <a:ext cx="45720" cy="6858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263640" y="36393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263640" y="39502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coverage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3716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answered the Innovation Challenge: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documents with ensemble AI
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key entity extraction
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automatically across departments
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real-time from the citizen's phone
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4-level classification + full audit trail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372</Words>
  <Application>Microsoft Office PowerPoint</Application>
  <PresentationFormat>On-screen Show (16:9)</PresentationFormat>
  <Paragraphs>107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Document Intelligence — Pitch Deck</dc:title>
  <dc:subject>PptxGenJS Presentation</dc:subject>
  <dc:creator>Public Sector AI Team</dc:creator>
  <cp:lastModifiedBy>Truong, Hoang</cp:lastModifiedBy>
  <cp:revision>4</cp:revision>
  <dcterms:created xsi:type="dcterms:W3CDTF">2026-04-20T10:12:50Z</dcterms:created>
  <dcterms:modified xsi:type="dcterms:W3CDTF">2026-04-20T17:49:49Z</dcterms:modified>
</cp:coreProperties>
</file>