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AI-Assisted Document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Manual Document Processing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Intelligent, Secure Workflows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Innovation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4389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371600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Delays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classification, routing,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review across 5-7 days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4389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37744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606040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1560" y="26974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Flow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459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visibility, duplicated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across departments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611880"/>
            <a:ext cx="4389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611880"/>
            <a:ext cx="54864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840480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1560" y="39319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45920" y="4069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classification levels require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access control + audit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394960" y="1143000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94960" y="1143000"/>
            <a:ext cx="32918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9"/>
          <p:cNvSpPr/>
          <p:nvPr/>
        </p:nvSpPr>
        <p:spPr>
          <a:xfrm>
            <a:off x="562356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7607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5-7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9494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7607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processing time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760720" y="246888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76072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%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57607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760720" y="315468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76072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Many+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57607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involved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760720" y="384048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7607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694944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7607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Solution: End-to-End AI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Classification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Summarization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14300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508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 + Multi-dept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approval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14300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143000"/>
            <a:ext cx="2560320" cy="54864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0" y="141732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0" y="15087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Portal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Notifications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246120"/>
            <a:ext cx="78638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246120"/>
            <a:ext cx="78638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Workflow — 6 Steps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3520440"/>
            <a:ext cx="76809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Future-State Capabilities — Delivered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45720" cy="14173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188720"/>
            <a:ext cx="292608" cy="29260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48840" y="116128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5270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9808" y="18013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 on any phone.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in 10-30 seconds.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697480" y="10515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697480" y="1051560"/>
            <a:ext cx="45720" cy="14173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34640" y="1188720"/>
            <a:ext cx="292608" cy="292608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06240" y="116128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07208" y="15270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Classification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2807208" y="18013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AI (text + vision).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document types, 85-95%.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54880" y="10515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754880" y="1051560"/>
            <a:ext cx="45720" cy="14173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92040" y="1188720"/>
            <a:ext cx="292608" cy="292608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63640" y="116128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64608" y="15270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864608" y="18013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per case type.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deadlines per step.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6812280" y="10515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812280" y="1051560"/>
            <a:ext cx="45720" cy="14173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49440" y="1188720"/>
            <a:ext cx="292608" cy="292608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321040" y="1161288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22008" y="15270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6922008" y="18013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entity extraction.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dossier summary.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640080" y="26517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640080" y="2651760"/>
            <a:ext cx="45720" cy="1417320"/>
          </a:xfrm>
          <a:prstGeom prst="rect">
            <a:avLst/>
          </a:prstGeom>
          <a:solidFill>
            <a:srgbClr val="2B4C7E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7240" y="2788920"/>
            <a:ext cx="292608" cy="292608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148840" y="2761488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9808" y="31272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Cross-Dept Collaboration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749808" y="34015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multi-dept review.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annotations.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2697480" y="26517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2697480" y="2651760"/>
            <a:ext cx="45720" cy="1417320"/>
          </a:xfrm>
          <a:prstGeom prst="rect">
            <a:avLst/>
          </a:prstGeom>
          <a:solidFill>
            <a:srgbClr val="2B4C7E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834640" y="2788920"/>
            <a:ext cx="292608" cy="292608"/>
          </a:xfrm>
          <a:prstGeom prst="rect">
            <a:avLst/>
          </a:prstGeom>
        </p:spPr>
      </p:pic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206240" y="2761488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2807208" y="31272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</p:txBody>
      </p:sp>
      <p:sp>
        <p:nvSpPr>
          <p:cNvPr id="39" name="Text 25"/>
          <p:cNvSpPr/>
          <p:nvPr/>
        </p:nvSpPr>
        <p:spPr>
          <a:xfrm>
            <a:off x="2807208" y="34015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 timeline.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notifications.</a:t>
            </a:r>
            <a:endParaRPr lang="en-US" sz="900" dirty="0"/>
          </a:p>
        </p:txBody>
      </p:sp>
      <p:sp>
        <p:nvSpPr>
          <p:cNvPr id="40" name="Shape 26"/>
          <p:cNvSpPr/>
          <p:nvPr/>
        </p:nvSpPr>
        <p:spPr>
          <a:xfrm>
            <a:off x="4754880" y="26517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27"/>
          <p:cNvSpPr/>
          <p:nvPr/>
        </p:nvSpPr>
        <p:spPr>
          <a:xfrm>
            <a:off x="4754880" y="2651760"/>
            <a:ext cx="45720" cy="14173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892040" y="2788920"/>
            <a:ext cx="292608" cy="292608"/>
          </a:xfrm>
          <a:prstGeom prst="rect">
            <a:avLst/>
          </a:prstGeom>
        </p:spPr>
      </p:pic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263640" y="2761488"/>
            <a:ext cx="201168" cy="20116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4864608" y="31272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Indexing</a:t>
            </a:r>
            <a:endParaRPr lang="en-US" sz="1100" dirty="0"/>
          </a:p>
        </p:txBody>
      </p:sp>
      <p:sp>
        <p:nvSpPr>
          <p:cNvPr id="45" name="Text 29"/>
          <p:cNvSpPr/>
          <p:nvPr/>
        </p:nvSpPr>
        <p:spPr>
          <a:xfrm>
            <a:off x="4864608" y="34015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search, Vietnamese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diacritics, clearance-filtered.</a:t>
            </a:r>
            <a:endParaRPr lang="en-US" sz="900" dirty="0"/>
          </a:p>
        </p:txBody>
      </p:sp>
      <p:sp>
        <p:nvSpPr>
          <p:cNvPr id="46" name="Shape 30"/>
          <p:cNvSpPr/>
          <p:nvPr/>
        </p:nvSpPr>
        <p:spPr>
          <a:xfrm>
            <a:off x="6812280" y="26517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31"/>
          <p:cNvSpPr/>
          <p:nvPr/>
        </p:nvSpPr>
        <p:spPr>
          <a:xfrm>
            <a:off x="6812280" y="2651760"/>
            <a:ext cx="45720" cy="141732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949440" y="2788920"/>
            <a:ext cx="292608" cy="292608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321040" y="2761488"/>
            <a:ext cx="201168" cy="201168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6922008" y="31272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51" name="Text 33"/>
          <p:cNvSpPr/>
          <p:nvPr/>
        </p:nvSpPr>
        <p:spPr>
          <a:xfrm>
            <a:off x="6922008" y="34015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security levels, ABAC,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full audit trail.</a:t>
            </a:r>
            <a:endParaRPr lang="en-US" sz="900" dirty="0"/>
          </a:p>
        </p:txBody>
      </p:sp>
      <p:sp>
        <p:nvSpPr>
          <p:cNvPr id="52" name="Shape 34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3" name="Text 35"/>
          <p:cNvSpPr/>
          <p:nvPr/>
        </p:nvSpPr>
        <p:spPr>
          <a:xfrm>
            <a:off x="822960" y="4251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capabilities are fully implemented and demo-ready on live AI models (Alibaba Cloud DashScope)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356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+ ensemble classification with officer confirmation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164592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887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92040" y="1399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 per document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1508760" cy="7315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188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03720" y="1399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minute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31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33172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Cross-Dept Consolidation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15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scan, one index — every department sees the same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164592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468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92040" y="2679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reviews, paper memos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1508760" cy="7315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4688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03720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dossier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611880"/>
            <a:ext cx="54864" cy="109728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Approval Cycles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 with deadlines; citizen tracks in real-time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49040"/>
            <a:ext cx="164592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3959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visibility, physical transfer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858000" y="3749040"/>
            <a:ext cx="1508760" cy="7315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3749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03720" y="3959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routing + SLA tracking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5029200" cy="3291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97480" y="2286000"/>
            <a:ext cx="914400" cy="914400"/>
          </a:xfrm>
          <a:prstGeom prst="ellipse">
            <a:avLst/>
          </a:prstGeom>
          <a:solidFill>
            <a:srgbClr val="0891B2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80360" y="2468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Demo Video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Scan + Dossier Workflow + Citizen Tracking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109728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097280"/>
            <a:ext cx="4572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10-30s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63640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per document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192024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92024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93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6364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 supported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74320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2743200"/>
            <a:ext cx="45720" cy="68580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C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85-95%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566160"/>
            <a:ext cx="26517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5040" y="3566160"/>
            <a:ext cx="4572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3639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263640" y="3950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coverage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answered the Innovation Challenge: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documents with ensemble AI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key entity extraction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automatically across departments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real-time from the citizen's phone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4-level classification + full audit trail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Intelligence — Pitch Deck</dc:title>
  <dc:subject>PptxGenJS Presentation</dc:subject>
  <dc:creator>Public Sector AI Team</dc:creator>
  <cp:lastModifiedBy>Public Sector AI Team</cp:lastModifiedBy>
  <cp:revision>1</cp:revision>
  <dcterms:created xsi:type="dcterms:W3CDTF">2026-04-20T10:12:50Z</dcterms:created>
  <dcterms:modified xsi:type="dcterms:W3CDTF">2026-04-20T10:12:50Z</dcterms:modified>
</cp:coreProperties>
</file>